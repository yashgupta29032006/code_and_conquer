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Inter Light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Inter ExtraBold"/>
      <p:bold r:id="rId23"/>
      <p:boldItalic r:id="rId24"/>
    </p:embeddedFont>
    <p:embeddedFont>
      <p:font typeface="Inter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InterExtraBold-boldItalic.fntdata"/><Relationship Id="rId23" Type="http://schemas.openxmlformats.org/officeDocument/2006/relationships/font" Target="fonts/Inter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bold.fntdata"/><Relationship Id="rId25" Type="http://schemas.openxmlformats.org/officeDocument/2006/relationships/font" Target="fonts/InterMedium-regular.fntdata"/><Relationship Id="rId28" Type="http://schemas.openxmlformats.org/officeDocument/2006/relationships/font" Target="fonts/InterMedium-boldItalic.fntdata"/><Relationship Id="rId27" Type="http://schemas.openxmlformats.org/officeDocument/2006/relationships/font" Target="fonts/Inter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Light-regular.fntdata"/><Relationship Id="rId14" Type="http://schemas.openxmlformats.org/officeDocument/2006/relationships/slide" Target="slides/slide9.xml"/><Relationship Id="rId17" Type="http://schemas.openxmlformats.org/officeDocument/2006/relationships/font" Target="fonts/InterLight-italic.fntdata"/><Relationship Id="rId16" Type="http://schemas.openxmlformats.org/officeDocument/2006/relationships/font" Target="fonts/InterLight-bold.fntdata"/><Relationship Id="rId19" Type="http://schemas.openxmlformats.org/officeDocument/2006/relationships/font" Target="fonts/Inter-regular.fntdata"/><Relationship Id="rId18" Type="http://schemas.openxmlformats.org/officeDocument/2006/relationships/font" Target="fonts/Inter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ffc116da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ffc116da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ffc116da5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ffc116da5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ffc116da5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ffc116da5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ffc116da5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ffc116da5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ffc116da5_0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ffc116da5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ffc116da5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ffc116da5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ffc116da5_0_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ffc116da5_0_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ffc116da5_0_1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ffc116da5_0_1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ffc116da5_0_1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ffc116da5_0_1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-1866900" y="-2819400"/>
            <a:ext cx="11010900" cy="7962900"/>
            <a:chOff x="-1866900" y="-2819400"/>
            <a:chExt cx="11010900" cy="7962900"/>
          </a:xfrm>
        </p:grpSpPr>
        <p:pic>
          <p:nvPicPr>
            <p:cNvPr id="55" name="Google Shape;55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24600" y="-2819400"/>
              <a:ext cx="2819400" cy="563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1866900" y="3276600"/>
              <a:ext cx="3733800" cy="1866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" name="Google Shape;57;p13"/>
          <p:cNvSpPr txBox="1"/>
          <p:nvPr/>
        </p:nvSpPr>
        <p:spPr>
          <a:xfrm>
            <a:off x="457200" y="1524000"/>
            <a:ext cx="82296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03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Car </a:t>
            </a:r>
            <a:r>
              <a:rPr b="0" lang="en" sz="403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Valuation Engine</a:t>
            </a:r>
            <a:r>
              <a:rPr b="0" lang="en" sz="403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: Beyond Simple </a:t>
            </a:r>
            <a:r>
              <a:rPr b="0" lang="en" sz="403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Depreciation</a:t>
            </a:r>
            <a:endParaRPr b="0" sz="403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57200" y="276225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Predicting resale value using data &amp; ML</a:t>
            </a:r>
            <a:endParaRPr b="0" sz="2000">
              <a:solidFill>
                <a:srgbClr val="94A3B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57200" y="447675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Yash Gupta | Yash Srivastava</a:t>
            </a:r>
            <a:endParaRPr b="0" sz="11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Code and Conquer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🚨 The Problem</a:t>
            </a:r>
            <a:endParaRPr b="0" i="0" sz="360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333500"/>
            <a:ext cx="85206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525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Char char="●"/>
            </a:pPr>
            <a:r>
              <a:rPr b="0" i="0" lang="en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Car depreciation is widely misunderstood</a:t>
            </a:r>
            <a:endParaRPr b="0" i="0" sz="18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50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Char char="●"/>
            </a:pPr>
            <a:r>
              <a:rPr b="0" i="0" lang="en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Most people assume a </a:t>
            </a:r>
            <a:r>
              <a:rPr b="1" i="0" lang="en" sz="1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linear</a:t>
            </a:r>
            <a:r>
              <a:rPr b="0" i="0" lang="en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drop in value</a:t>
            </a:r>
            <a:endParaRPr b="0" i="0" sz="18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50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Char char="●"/>
            </a:pPr>
            <a:r>
              <a:rPr b="0" i="0" lang="en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Critical price cliffs (like at </a:t>
            </a:r>
            <a:r>
              <a:rPr b="1" i="0" lang="en" sz="1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50,000 miles</a:t>
            </a:r>
            <a:r>
              <a:rPr b="0" i="0" lang="en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 are hidden</a:t>
            </a:r>
            <a:endParaRPr b="0" i="0" sz="18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50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Char char="●"/>
            </a:pPr>
            <a:r>
              <a:rPr b="0" i="0" lang="en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Decisions are based on </a:t>
            </a:r>
            <a:r>
              <a:rPr b="1" i="0" lang="en" sz="1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guesswork</a:t>
            </a:r>
            <a:r>
              <a:rPr b="0" i="0" lang="en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not data</a:t>
            </a:r>
            <a:endParaRPr b="0" i="0" sz="18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0"/>
              </a:spcBef>
              <a:spcAft>
                <a:spcPts val="1200"/>
              </a:spcAft>
              <a:buNone/>
            </a:pPr>
            <a:r>
              <a:rPr b="1" i="0" lang="en" sz="24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“Wrong timing in resale can cost </a:t>
            </a:r>
            <a:r>
              <a:rPr b="1" i="0" lang="en" sz="2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thousands</a:t>
            </a:r>
            <a:r>
              <a:rPr b="1" i="0" lang="en" sz="24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.”</a:t>
            </a:r>
            <a:endParaRPr b="1" i="0" sz="24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6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💡 Our Solution</a:t>
            </a:r>
            <a:endParaRPr b="0" sz="360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333500"/>
            <a:ext cx="8520600" cy="341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525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Char char="●"/>
            </a:pPr>
            <a:r>
              <a:rPr b="0" lang="en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Built a </a:t>
            </a:r>
            <a:r>
              <a:rPr b="1" lang="en" sz="1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data-driven</a:t>
            </a:r>
            <a:r>
              <a:rPr b="0" lang="en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car valuation engine</a:t>
            </a:r>
            <a:endParaRPr b="0" sz="18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50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Char char="●"/>
            </a:pPr>
            <a:r>
              <a:rPr b="0" lang="en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Trained on </a:t>
            </a:r>
            <a:r>
              <a:rPr b="1" lang="en" sz="1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50,000+</a:t>
            </a:r>
            <a:r>
              <a:rPr b="0" lang="en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real-world car records</a:t>
            </a:r>
            <a:endParaRPr b="0" sz="18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50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Char char="●"/>
            </a:pPr>
            <a:r>
              <a:rPr b="0" lang="en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Captures </a:t>
            </a:r>
            <a:r>
              <a:rPr b="1" lang="en" sz="1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non-linear</a:t>
            </a:r>
            <a:r>
              <a:rPr b="0" lang="en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depreciation patterns</a:t>
            </a:r>
            <a:endParaRPr b="0" sz="18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50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Char char="●"/>
            </a:pPr>
            <a:r>
              <a:rPr b="0" lang="en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Predicts both current and </a:t>
            </a:r>
            <a:r>
              <a:rPr b="1" lang="en" sz="1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future prices</a:t>
            </a:r>
            <a:endParaRPr b="0" sz="18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500"/>
              </a:spcBef>
              <a:spcAft>
                <a:spcPts val="1200"/>
              </a:spcAft>
              <a:buNone/>
            </a:pPr>
            <a:r>
              <a:rPr b="1" lang="en" sz="24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“Not just prediction - a complete valuation system”</a:t>
            </a:r>
            <a:endParaRPr b="1" sz="24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2381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🧠 System Architecture</a:t>
            </a:r>
            <a:endParaRPr b="0" i="0" sz="320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406950" y="809625"/>
            <a:ext cx="8330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modular pipeline transforming raw data into predictive insights</a:t>
            </a:r>
            <a:endParaRPr b="0" sz="14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4">
            <a:alphaModFix/>
          </a:blip>
          <a:srcRect b="18986" l="0" r="0" t="18986"/>
          <a:stretch/>
        </p:blipFill>
        <p:spPr>
          <a:xfrm>
            <a:off x="457200" y="1190625"/>
            <a:ext cx="822960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762000" y="4095750"/>
            <a:ext cx="7620000" cy="57150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i="0" lang="en" sz="2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Data </a:t>
            </a:r>
            <a:r>
              <a:rPr b="1" i="0" lang="en" sz="2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r>
              <a:rPr b="1" i="0" lang="en" sz="2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Analysis </a:t>
            </a:r>
            <a:r>
              <a:rPr b="1" i="0" lang="en" sz="2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r>
              <a:rPr b="1" i="0" lang="en" sz="2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Model </a:t>
            </a:r>
            <a:r>
              <a:rPr b="1" i="0" lang="en" sz="2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r>
              <a:rPr b="1" i="0" lang="en" sz="2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Simulation </a:t>
            </a:r>
            <a:r>
              <a:rPr b="1" i="0" lang="en" sz="2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r>
              <a:rPr b="1" i="0" lang="en" sz="2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Dashboard</a:t>
            </a:r>
            <a:endParaRPr b="1" i="0" sz="2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2381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📊 Mileage vs Price: Depreciation Curve</a:t>
            </a:r>
            <a:endParaRPr b="0" sz="320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 rotWithShape="1">
          <a:blip r:embed="rId4">
            <a:alphaModFix/>
          </a:blip>
          <a:srcRect b="21065" l="0" r="0" t="21065"/>
          <a:stretch/>
        </p:blipFill>
        <p:spPr>
          <a:xfrm>
            <a:off x="457200" y="952500"/>
            <a:ext cx="82296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457200" y="3952875"/>
            <a:ext cx="8229600" cy="104790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250" lIns="190500" spcFirstLastPara="1" rIns="19050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8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• Sharp value drop before </a:t>
            </a:r>
            <a:r>
              <a:rPr b="1" lang="en" sz="98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50,000 miles</a:t>
            </a:r>
            <a:endParaRPr b="0" sz="98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98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• Prices stabilize after ~</a:t>
            </a:r>
            <a:r>
              <a:rPr b="1" lang="en" sz="98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150,000 miles</a:t>
            </a:r>
            <a:endParaRPr b="0" sz="98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98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• Clear </a:t>
            </a:r>
            <a:r>
              <a:rPr b="1" lang="en" sz="98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non-linear</a:t>
            </a:r>
            <a:r>
              <a:rPr b="0" lang="en" sz="98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depreciation behavior</a:t>
            </a:r>
            <a:endParaRPr b="0" sz="98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rPr b="1" lang="en" sz="112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“Most depreciation happens early in a car’s life.”</a:t>
            </a:r>
            <a:endParaRPr b="1" sz="112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7" name="Google Shape;87;p17" title="mileage_vs_price_trend.png"/>
          <p:cNvPicPr preferRelativeResize="0"/>
          <p:nvPr/>
        </p:nvPicPr>
        <p:blipFill rotWithShape="1">
          <a:blip r:embed="rId4">
            <a:alphaModFix/>
          </a:blip>
          <a:srcRect b="1376" l="2730" r="8064" t="5644"/>
          <a:stretch/>
        </p:blipFill>
        <p:spPr>
          <a:xfrm>
            <a:off x="457200" y="952500"/>
            <a:ext cx="8229600" cy="2887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696" y="2381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2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📊 Engine Size vs Price: Market Segmentation</a:t>
            </a:r>
            <a:endParaRPr b="0" sz="272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93" name="Google Shape;93;p18"/>
          <p:cNvPicPr preferRelativeResize="0"/>
          <p:nvPr/>
        </p:nvPicPr>
        <p:blipFill rotWithShape="1">
          <a:blip r:embed="rId4">
            <a:alphaModFix/>
          </a:blip>
          <a:srcRect b="22410" l="0" r="0" t="22405"/>
          <a:stretch/>
        </p:blipFill>
        <p:spPr>
          <a:xfrm>
            <a:off x="457200" y="952500"/>
            <a:ext cx="8229600" cy="27249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457200" y="3762375"/>
            <a:ext cx="8229600" cy="119070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0" spcFirstLastPara="1" rIns="1905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lang="en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Engine size</a:t>
            </a:r>
            <a:r>
              <a:rPr b="0" lang="en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strongly influences price segments</a:t>
            </a:r>
            <a:endParaRPr b="0" sz="11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• Larger engines consistently command higher prices</a:t>
            </a:r>
            <a:endParaRPr b="0" sz="11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• Clear separation between economy and </a:t>
            </a:r>
            <a:r>
              <a:rPr b="1" lang="en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premium</a:t>
            </a:r>
            <a:r>
              <a:rPr b="0" lang="en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segments</a:t>
            </a:r>
            <a:endParaRPr b="0" sz="11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“Cars above ~</a:t>
            </a:r>
            <a:r>
              <a:rPr b="1" lang="en" sz="13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3.0L</a:t>
            </a:r>
            <a:r>
              <a:rPr b="1" lang="en" sz="13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fall into premium valuation tiers”</a:t>
            </a:r>
            <a:endParaRPr b="1" sz="13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5" name="Google Shape;95;p18" title="engine_size_vs_price_bo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810825"/>
            <a:ext cx="8229600" cy="286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696" y="2381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🚀 Future Price Simulation</a:t>
            </a:r>
            <a:endParaRPr b="0" sz="320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01" name="Google Shape;101;p19"/>
          <p:cNvPicPr preferRelativeResize="0"/>
          <p:nvPr/>
        </p:nvPicPr>
        <p:blipFill rotWithShape="1">
          <a:blip r:embed="rId4">
            <a:alphaModFix/>
          </a:blip>
          <a:srcRect b="22222" l="0" r="0" t="22222"/>
          <a:stretch/>
        </p:blipFill>
        <p:spPr>
          <a:xfrm>
            <a:off x="457200" y="762000"/>
            <a:ext cx="822960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>
            <a:off x="457200" y="3571875"/>
            <a:ext cx="8229600" cy="142890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0" spcFirstLastPara="1" rIns="1905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• Simulates vehicle value over a </a:t>
            </a:r>
            <a:r>
              <a:rPr b="1" lang="en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10-year</a:t>
            </a:r>
            <a:r>
              <a:rPr b="0" lang="en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horizon</a:t>
            </a:r>
            <a:endParaRPr b="0" sz="1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• Mileage increases progressively (~12,000 miles/year)</a:t>
            </a:r>
            <a:endParaRPr b="0" sz="1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• Manufacturing year remains constant</a:t>
            </a:r>
            <a:endParaRPr b="0" sz="1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• Produces </a:t>
            </a:r>
            <a:r>
              <a:rPr b="1" lang="en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realistic</a:t>
            </a:r>
            <a:r>
              <a:rPr b="0" lang="en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depreciation trends</a:t>
            </a:r>
            <a:endParaRPr b="0" sz="1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b="1" lang="en" sz="13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“This transforms prediction into a forward-looking </a:t>
            </a:r>
            <a:r>
              <a:rPr b="1" lang="en" sz="13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simulation</a:t>
            </a:r>
            <a:r>
              <a:rPr b="1" lang="en" sz="13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system”</a:t>
            </a:r>
            <a:endParaRPr b="0" i="1" sz="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3" name="Google Shape;103;p19" title="future_price_simulation.png"/>
          <p:cNvPicPr preferRelativeResize="0"/>
          <p:nvPr/>
        </p:nvPicPr>
        <p:blipFill rotWithShape="1">
          <a:blip r:embed="rId4">
            <a:alphaModFix/>
          </a:blip>
          <a:srcRect b="3264" l="5604" r="8449" t="4015"/>
          <a:stretch/>
        </p:blipFill>
        <p:spPr>
          <a:xfrm>
            <a:off x="457200" y="762000"/>
            <a:ext cx="82296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696" y="2381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⚙️ Model &amp; Performance</a:t>
            </a:r>
            <a:endParaRPr b="0" sz="320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09" name="Google Shape;109;p20"/>
          <p:cNvGrpSpPr/>
          <p:nvPr/>
        </p:nvGrpSpPr>
        <p:grpSpPr>
          <a:xfrm>
            <a:off x="457200" y="1143000"/>
            <a:ext cx="2667000" cy="2667000"/>
            <a:chOff x="457200" y="1143000"/>
            <a:chExt cx="2667000" cy="2667000"/>
          </a:xfrm>
        </p:grpSpPr>
        <p:sp>
          <p:nvSpPr>
            <p:cNvPr id="110" name="Google Shape;110;p20"/>
            <p:cNvSpPr/>
            <p:nvPr/>
          </p:nvSpPr>
          <p:spPr>
            <a:xfrm>
              <a:off x="457200" y="1143000"/>
              <a:ext cx="2667000" cy="2667000"/>
            </a:xfrm>
            <a:prstGeom prst="roundRect">
              <a:avLst>
                <a:gd fmla="val 2857" name="adj"/>
              </a:avLst>
            </a:prstGeom>
            <a:solidFill>
              <a:srgbClr val="1E293B"/>
            </a:solidFill>
            <a:ln cap="flat" cmpd="sng" w="9525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0"/>
            <p:cNvSpPr txBox="1"/>
            <p:nvPr/>
          </p:nvSpPr>
          <p:spPr>
            <a:xfrm>
              <a:off x="457200" y="1143000"/>
              <a:ext cx="2667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Model Used</a:t>
              </a:r>
              <a:endParaRPr b="0" sz="14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• Random Forest Regressor</a:t>
              </a:r>
              <a:endParaRPr sz="1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2" name="Google Shape;112;p20"/>
          <p:cNvGrpSpPr/>
          <p:nvPr/>
        </p:nvGrpSpPr>
        <p:grpSpPr>
          <a:xfrm>
            <a:off x="3238500" y="1143000"/>
            <a:ext cx="2667000" cy="2667000"/>
            <a:chOff x="3238500" y="1143000"/>
            <a:chExt cx="2667000" cy="2667000"/>
          </a:xfrm>
        </p:grpSpPr>
        <p:sp>
          <p:nvSpPr>
            <p:cNvPr id="113" name="Google Shape;113;p20"/>
            <p:cNvSpPr/>
            <p:nvPr/>
          </p:nvSpPr>
          <p:spPr>
            <a:xfrm>
              <a:off x="3238500" y="1143000"/>
              <a:ext cx="2667000" cy="2667000"/>
            </a:xfrm>
            <a:prstGeom prst="roundRect">
              <a:avLst>
                <a:gd fmla="val 2857" name="adj"/>
              </a:avLst>
            </a:prstGeom>
            <a:solidFill>
              <a:srgbClr val="1E293B"/>
            </a:solidFill>
            <a:ln cap="flat" cmpd="sng" w="9525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0"/>
            <p:cNvSpPr txBox="1"/>
            <p:nvPr/>
          </p:nvSpPr>
          <p:spPr>
            <a:xfrm>
              <a:off x="3238500" y="1143000"/>
              <a:ext cx="2667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Why This Model</a:t>
              </a:r>
              <a:endParaRPr b="0" sz="14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• Handles non-linear relationships</a:t>
              </a:r>
              <a:endParaRPr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• Captures feature interactions effectively</a:t>
              </a:r>
              <a:endParaRPr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5" name="Google Shape;115;p20"/>
          <p:cNvGrpSpPr/>
          <p:nvPr/>
        </p:nvGrpSpPr>
        <p:grpSpPr>
          <a:xfrm>
            <a:off x="6019800" y="1143000"/>
            <a:ext cx="2667000" cy="2667000"/>
            <a:chOff x="6019800" y="1143000"/>
            <a:chExt cx="2667000" cy="2667000"/>
          </a:xfrm>
        </p:grpSpPr>
        <p:sp>
          <p:nvSpPr>
            <p:cNvPr id="116" name="Google Shape;116;p20"/>
            <p:cNvSpPr/>
            <p:nvPr/>
          </p:nvSpPr>
          <p:spPr>
            <a:xfrm>
              <a:off x="6019800" y="1143000"/>
              <a:ext cx="2667000" cy="2667000"/>
            </a:xfrm>
            <a:prstGeom prst="roundRect">
              <a:avLst>
                <a:gd fmla="val 2857" name="adj"/>
              </a:avLst>
            </a:prstGeom>
            <a:solidFill>
              <a:srgbClr val="1E293B"/>
            </a:solidFill>
            <a:ln cap="flat" cmpd="sng" w="9525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0"/>
            <p:cNvSpPr txBox="1"/>
            <p:nvPr/>
          </p:nvSpPr>
          <p:spPr>
            <a:xfrm>
              <a:off x="6019800" y="1143000"/>
              <a:ext cx="2667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Performance</a:t>
              </a:r>
              <a:endParaRPr b="0" sz="14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• R² ≈ 0.97</a:t>
              </a:r>
              <a:endParaRPr sz="1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• MAE ≈ $1400</a:t>
              </a:r>
              <a:endParaRPr sz="1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8" name="Google Shape;118;p20"/>
          <p:cNvGrpSpPr/>
          <p:nvPr/>
        </p:nvGrpSpPr>
        <p:grpSpPr>
          <a:xfrm>
            <a:off x="457200" y="4000500"/>
            <a:ext cx="8229600" cy="571500"/>
            <a:chOff x="457200" y="4000500"/>
            <a:chExt cx="8229600" cy="571500"/>
          </a:xfrm>
        </p:grpSpPr>
        <p:sp>
          <p:nvSpPr>
            <p:cNvPr id="119" name="Google Shape;119;p20"/>
            <p:cNvSpPr/>
            <p:nvPr/>
          </p:nvSpPr>
          <p:spPr>
            <a:xfrm>
              <a:off x="457200" y="4000500"/>
              <a:ext cx="8229600" cy="571500"/>
            </a:xfrm>
            <a:prstGeom prst="rect">
              <a:avLst/>
            </a:prstGeom>
            <a:solidFill>
              <a:srgbClr val="1E293B"/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0"/>
            <p:cNvSpPr txBox="1"/>
            <p:nvPr/>
          </p:nvSpPr>
          <p:spPr>
            <a:xfrm>
              <a:off x="457200" y="4000500"/>
              <a:ext cx="8229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“Chosen to model real-world non-linear depreciation behavior”</a:t>
              </a:r>
              <a:endParaRPr b="1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696" y="2381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🧠 Key Insights</a:t>
            </a:r>
            <a:endParaRPr b="0" sz="320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457200" y="1095375"/>
            <a:ext cx="8229600" cy="266700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0" spcFirstLastPara="1" rIns="19050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 50k mileage cliff</a:t>
            </a:r>
            <a:r>
              <a:rPr b="0" lang="en" sz="14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→ major value drop occurs early</a:t>
            </a:r>
            <a:endParaRPr b="0" sz="14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 Terminal value</a:t>
            </a:r>
            <a:r>
              <a:rPr b="0" lang="en" sz="14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→ prices stabilize after high mileage</a:t>
            </a:r>
            <a:endParaRPr b="0" sz="14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 Engine segmentation</a:t>
            </a:r>
            <a:r>
              <a:rPr b="0" lang="en" sz="14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→ defines economy vs premium tiers</a:t>
            </a:r>
            <a:endParaRPr b="0" sz="14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 Brand impact</a:t>
            </a:r>
            <a:r>
              <a:rPr b="0" lang="en" sz="14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→ premium brands retain value better</a:t>
            </a:r>
            <a:endParaRPr b="0" sz="14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457200" y="4000500"/>
            <a:ext cx="8229600" cy="57150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“These insights enable smarter buying and selling decisions”</a:t>
            </a:r>
            <a:endParaRPr b="1" sz="13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